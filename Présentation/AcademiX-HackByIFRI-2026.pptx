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60020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2C55E"/>
                </a:solidFill>
                <a:latin typeface="Calibri"/>
              </a:rPr>
              <a:t>HackByIFRI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240280"/>
            <a:ext cx="10058400" cy="2121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1">
                <a:solidFill>
                  <a:srgbClr val="FFFFFF"/>
                </a:solidFill>
                <a:latin typeface="Calibri"/>
              </a:rPr>
              <a:t>Academi</a:t>
            </a:r>
            <a:r>
              <a:rPr sz="9600" b="1">
                <a:solidFill>
                  <a:srgbClr val="22C55E"/>
                </a:solidFill>
                <a:latin typeface="Calibri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794760"/>
            <a:ext cx="9692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CBD5E1"/>
                </a:solidFill>
                <a:latin typeface="Calibri"/>
              </a:rPr>
              <a:t>L'assistant académique tout-en-un, propulsé par l'IA.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sz="1700" b="0">
                <a:solidFill>
                  <a:srgbClr val="94A3B8"/>
                </a:solidFill>
                <a:latin typeface="Calibri"/>
              </a:rPr>
              <a:t>Organisation intelligente · IA générative · collaboration en temps réel.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Team D'excellence</a:t>
            </a:r>
            <a:r>
              <a:rPr sz="1500" b="1">
                <a:solidFill>
                  <a:srgbClr val="94A3B8"/>
                </a:solidFill>
                <a:latin typeface="Calibri"/>
              </a:rPr>
              <a:t>   —   Hanna Biaou · Mourchid Folarin · Octave Bahoun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LE CONSTAT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Calibri"/>
              </a:rPr>
              <a:t>Les étudiants sont livrés à eux-mêmes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965960"/>
            <a:ext cx="566928" cy="56692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19" y="1911095"/>
            <a:ext cx="5257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F172A"/>
                </a:solidFill>
                <a:latin typeface="Calibri"/>
              </a:rPr>
              <a:t>Surcharge cognitive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Submergés par le volume de cours et d'informations à traiter.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3200400"/>
            <a:ext cx="566928" cy="56692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3145536"/>
            <a:ext cx="5257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F172A"/>
                </a:solidFill>
                <a:latin typeface="Calibri"/>
              </a:rPr>
              <a:t>Peu d'accompagnement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Un suivi personnalisé quasi inexistant à grande échelle.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4434840"/>
            <a:ext cx="566928" cy="56692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4379976"/>
            <a:ext cx="5257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F172A"/>
                </a:solidFill>
                <a:latin typeface="Calibri"/>
              </a:rPr>
              <a:t>Outils dispersés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Des révisions éparpillées sur une dizaine d'applications.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920240"/>
            <a:ext cx="4144975" cy="37947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2514600"/>
            <a:ext cx="356616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22C55E"/>
                </a:solidFill>
                <a:latin typeface="Calibri"/>
              </a:rPr>
              <a:t>«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Trop de contenu, pas assez de méthode.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Le quotidien de milliers d'étudiants.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NOTRE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Calibri"/>
              </a:rPr>
              <a:t>AcademiX réunit trois forces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240938" cy="338328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34440" y="2560320"/>
            <a:ext cx="777240" cy="7772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657600"/>
            <a:ext cx="232653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172A"/>
                </a:solidFill>
                <a:latin typeface="Calibri"/>
              </a:rPr>
              <a:t>IA générative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sz="1450" b="0">
                <a:solidFill>
                  <a:srgbClr val="64748B"/>
                </a:solidFill>
                <a:latin typeface="Calibri"/>
              </a:rPr>
              <a:t>Résumés, quiz, exercices et podcasts audio générés sur mesure.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75378" y="2057400"/>
            <a:ext cx="3240938" cy="338328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2578" y="2560320"/>
            <a:ext cx="777240" cy="7772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2578" y="3657600"/>
            <a:ext cx="232653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172A"/>
                </a:solidFill>
                <a:latin typeface="Calibri"/>
              </a:rPr>
              <a:t>Analyse prédictive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sz="1450" b="0">
                <a:solidFill>
                  <a:srgbClr val="64748B"/>
                </a:solidFill>
                <a:latin typeface="Calibri"/>
              </a:rPr>
              <a:t>Détection des difficultés et alertes intelligentes en amont.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73516" y="2057400"/>
            <a:ext cx="3240938" cy="338328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30716" y="2560320"/>
            <a:ext cx="777240" cy="7772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0716" y="3657600"/>
            <a:ext cx="232653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F172A"/>
                </a:solidFill>
                <a:latin typeface="Calibri"/>
              </a:rPr>
              <a:t>Collaboration sociale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sz="1450" b="0">
                <a:solidFill>
                  <a:srgbClr val="64748B"/>
                </a:solidFill>
                <a:latin typeface="Calibri"/>
              </a:rPr>
              <a:t>Sessions d'étude en temps réel, entre pairs et en groupe.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UN ÉCOSYSTÈME COMPLET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Calibri"/>
              </a:rPr>
              <a:t>Cinq rôles, un point de convergence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1907987" cy="2834640"/>
          </a:xfrm>
          <a:prstGeom prst="roundRect">
            <a:avLst>
              <a:gd name="adj" fmla="val 11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92905" y="2423160"/>
            <a:ext cx="676656" cy="67665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63366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Calibri"/>
              </a:rPr>
              <a:t>Admin</a:t>
            </a:r>
          </a:p>
          <a:p>
            <a:pPr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Gestion globale de l'établissement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9547" y="2057400"/>
            <a:ext cx="1907987" cy="2834640"/>
          </a:xfrm>
          <a:prstGeom prst="roundRect">
            <a:avLst>
              <a:gd name="adj" fmla="val 11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575212" y="2423160"/>
            <a:ext cx="676656" cy="67665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6707" y="3291840"/>
            <a:ext cx="163366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Calibri"/>
              </a:rPr>
              <a:t>Chef de dept.</a:t>
            </a:r>
          </a:p>
          <a:p>
            <a:pPr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Filières, notes, emplois du temps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41854" y="2057400"/>
            <a:ext cx="1907987" cy="2834640"/>
          </a:xfrm>
          <a:prstGeom prst="roundRect">
            <a:avLst>
              <a:gd name="adj" fmla="val 11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57519" y="2423160"/>
            <a:ext cx="676656" cy="67665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9014" y="3291840"/>
            <a:ext cx="163366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Calibri"/>
              </a:rPr>
              <a:t>Professeur</a:t>
            </a:r>
          </a:p>
          <a:p>
            <a:pPr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Cours, supports, discussions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24161" y="2057400"/>
            <a:ext cx="1907987" cy="2834640"/>
          </a:xfrm>
          <a:prstGeom prst="roundRect">
            <a:avLst>
              <a:gd name="adj" fmla="val 11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39826" y="2423160"/>
            <a:ext cx="676656" cy="67665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22C55E"/>
                </a:solidFill>
                <a:latin typeface="Calibri"/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1321" y="3291840"/>
            <a:ext cx="163366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Responsable</a:t>
            </a:r>
          </a:p>
          <a:p>
            <a:pPr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DCFCE7"/>
                </a:solidFill>
                <a:latin typeface="Calibri"/>
              </a:rPr>
              <a:t>Le hub de communication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6468" y="2057400"/>
            <a:ext cx="1907987" cy="2834640"/>
          </a:xfrm>
          <a:prstGeom prst="roundRect">
            <a:avLst>
              <a:gd name="adj" fmla="val 11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22133" y="2423160"/>
            <a:ext cx="676656" cy="67665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3628" y="3291840"/>
            <a:ext cx="163366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F172A"/>
                </a:solidFill>
                <a:latin typeface="Calibri"/>
              </a:rPr>
              <a:t>Étudiant</a:t>
            </a:r>
          </a:p>
          <a:p>
            <a:pPr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Calibri"/>
              </a:rPr>
              <a:t>Notes, IA, sessions d'étude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57800"/>
            <a:ext cx="106372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4748B"/>
                </a:solidFill>
                <a:latin typeface="Calibri"/>
              </a:rPr>
              <a:t>Toute la communication de la classe passe par le </a:t>
            </a:r>
            <a:r>
              <a:rPr sz="1600" b="1">
                <a:solidFill>
                  <a:srgbClr val="16A34A"/>
                </a:solidFill>
                <a:latin typeface="Calibri"/>
              </a:rPr>
              <a:t>responsable</a:t>
            </a:r>
            <a:r>
              <a:rPr sz="1600" b="1">
                <a:solidFill>
                  <a:srgbClr val="64748B"/>
                </a:solidFill>
                <a:latin typeface="Calibri"/>
              </a:rPr>
              <a:t> — jamais de contact direct dispersé.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INTELLIGENCE ARTIFICIELLE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Calibri"/>
              </a:rPr>
              <a:t>Le portail de révision 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65960"/>
            <a:ext cx="3271418" cy="17830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" y="2350008"/>
            <a:ext cx="566928" cy="56692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2295144"/>
            <a:ext cx="194553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Résumés intelligents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Synthèse structurée de longs cours en fiches.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60138" y="1965960"/>
            <a:ext cx="3271418" cy="17830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825898" y="2350008"/>
            <a:ext cx="566928" cy="56692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7418" y="2295144"/>
            <a:ext cx="194553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Podcasts audio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Vos notes transformées en audio (Text-to-Speech).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965960"/>
            <a:ext cx="3271418" cy="17830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08796" y="2350008"/>
            <a:ext cx="566928" cy="56692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40316" y="2295144"/>
            <a:ext cx="194553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Quiz QCM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Des QCM d'examen générés depuis vos supports.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069079"/>
            <a:ext cx="3271418" cy="17830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4453127"/>
            <a:ext cx="566928" cy="56692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4398264"/>
            <a:ext cx="194553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Exercices corrigés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Exercices inédits avec corrigés pas à pas.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0138" y="4069079"/>
            <a:ext cx="3271418" cy="17830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25898" y="4453127"/>
            <a:ext cx="566928" cy="56692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7418" y="4398264"/>
            <a:ext cx="194553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Professeur IA (RAG)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Réponses fondées sur votre base validée.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43036" y="4069079"/>
            <a:ext cx="3271418" cy="178308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8796" y="4398264"/>
            <a:ext cx="2631338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Multi-modèles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Groq · OpenRouter — le bon LLM pour chaque tâche.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APPRENDRE 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Calibri"/>
              </a:rPr>
              <a:t>Des sessions collaboratives en direct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10637215" cy="105156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2258568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157984"/>
            <a:ext cx="917417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Chat de groupe   </a:t>
            </a:r>
            <a:r>
              <a:rPr sz="1500" b="1">
                <a:solidFill>
                  <a:srgbClr val="64748B"/>
                </a:solidFill>
                <a:latin typeface="Calibri"/>
              </a:rPr>
              <a:t>Discussion instantanée entre camarades d'une même session d'étude.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46120"/>
            <a:ext cx="10637215" cy="105156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3493008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392424"/>
            <a:ext cx="917417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Tableau blanc partagé   </a:t>
            </a:r>
            <a:r>
              <a:rPr sz="1500" b="1">
                <a:solidFill>
                  <a:srgbClr val="64748B"/>
                </a:solidFill>
                <a:latin typeface="Calibri"/>
              </a:rPr>
              <a:t>Schémas et graphes dessinés en temps réel, visibles par tous.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80560"/>
            <a:ext cx="10637215" cy="105156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4727448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4626864"/>
            <a:ext cx="917417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Éditeur de code collaboratif   </a:t>
            </a:r>
            <a:r>
              <a:rPr sz="1500" b="1">
                <a:solidFill>
                  <a:srgbClr val="64748B"/>
                </a:solidFill>
                <a:latin typeface="Calibri"/>
              </a:rPr>
              <a:t>Un IDE dans le navigateur pour coder à plusieurs, à la Google Docs.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Synchronisation bidirectionnelle très basse latence via WebSocket (Socket.io).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NOTRE DIFFÉRENCIATEUR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Calibri"/>
              </a:rPr>
              <a:t>La communication passe par le responsable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286000"/>
            <a:ext cx="3063240" cy="214884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242316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Professeur / Chef</a:t>
            </a:r>
          </a:p>
          <a:p>
            <a:pPr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Envoie infos &amp; supports</a:t>
            </a:r>
          </a:p>
          <a:p>
            <a:pPr algn="ctr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à la classe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286000"/>
            <a:ext cx="723747" cy="2148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C55E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64227" y="2286000"/>
            <a:ext cx="3063240" cy="2148840"/>
          </a:xfrm>
          <a:prstGeom prst="roundRect">
            <a:avLst>
              <a:gd name="adj" fmla="val 9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84267" y="2651760"/>
            <a:ext cx="242316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Responsable</a:t>
            </a:r>
          </a:p>
          <a:p>
            <a:pPr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DCFCE7"/>
                </a:solidFill>
                <a:latin typeface="Calibri"/>
              </a:rPr>
              <a:t>Reçoit, centralise</a:t>
            </a:r>
          </a:p>
          <a:p>
            <a:pPr algn="ctr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DCFCE7"/>
                </a:solidFill>
                <a:latin typeface="Calibri"/>
              </a:rPr>
              <a:t>et relaie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7467" y="2286000"/>
            <a:ext cx="723747" cy="2148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C55E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51215" y="2286000"/>
            <a:ext cx="3063240" cy="214884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1255" y="2651760"/>
            <a:ext cx="2423160" cy="1508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F172A"/>
                </a:solidFill>
                <a:latin typeface="Calibri"/>
              </a:rPr>
              <a:t>Toute la classe</a:t>
            </a:r>
          </a:p>
          <a:p>
            <a:pPr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Reçoit l'information</a:t>
            </a:r>
          </a:p>
          <a:p>
            <a:pPr algn="ctr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au bon endroit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83480"/>
            <a:ext cx="1063721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172A"/>
                </a:solidFill>
                <a:latin typeface="Calibri"/>
              </a:rPr>
              <a:t>Discussions temps réel (MongoDB)      </a:t>
            </a:r>
            <a:r>
              <a:rPr sz="1450" b="1">
                <a:solidFill>
                  <a:srgbClr val="0F172A"/>
                </a:solidFill>
                <a:latin typeface="Calibri"/>
              </a:rPr>
              <a:t>Supports de cours partagés      </a:t>
            </a:r>
            <a:r>
              <a:rPr sz="1450" b="1">
                <a:solidFill>
                  <a:srgbClr val="0F172A"/>
                </a:solidFill>
                <a:latin typeface="Calibri"/>
              </a:rPr>
              <a:t>Notifications instantanées</a:t>
            </a:r>
          </a:p>
          <a:p>
            <a:pPr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Un seul canal clair — fini les messages perdus et les contacts dispersés.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EN UN COUP D'ŒIL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AcademiX en chiffres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468880"/>
            <a:ext cx="1834835" cy="24688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743395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22C55E"/>
                </a:solidFill>
                <a:latin typeface="Calibri"/>
              </a:rPr>
              <a:t>4</a:t>
            </a:r>
          </a:p>
          <a:p>
            <a:pPr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>
                <a:solidFill>
                  <a:srgbClr val="CBD5E1"/>
                </a:solidFill>
                <a:latin typeface="Calibri"/>
              </a:rPr>
              <a:t>microservices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7835" y="2468880"/>
            <a:ext cx="1834835" cy="24688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23555" y="2880360"/>
            <a:ext cx="1743395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22C55E"/>
                </a:solidFill>
                <a:latin typeface="Calibri"/>
              </a:rPr>
              <a:t>3</a:t>
            </a:r>
          </a:p>
          <a:p>
            <a:pPr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>
                <a:solidFill>
                  <a:srgbClr val="CBD5E1"/>
                </a:solidFill>
                <a:latin typeface="Calibri"/>
              </a:rPr>
              <a:t>bases de données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78430" y="2468880"/>
            <a:ext cx="1834835" cy="24688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24150" y="2880360"/>
            <a:ext cx="1743395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22C55E"/>
                </a:solidFill>
                <a:latin typeface="Calibri"/>
              </a:rPr>
              <a:t>5</a:t>
            </a:r>
          </a:p>
          <a:p>
            <a:pPr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>
                <a:solidFill>
                  <a:srgbClr val="CBD5E1"/>
                </a:solidFill>
                <a:latin typeface="Calibri"/>
              </a:rPr>
              <a:t>rôles utilisateurs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79025" y="2468880"/>
            <a:ext cx="1834835" cy="24688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4745" y="2880360"/>
            <a:ext cx="1743395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22C55E"/>
                </a:solidFill>
                <a:latin typeface="Calibri"/>
              </a:rPr>
              <a:t>5</a:t>
            </a:r>
          </a:p>
          <a:p>
            <a:pPr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>
                <a:solidFill>
                  <a:srgbClr val="CBD5E1"/>
                </a:solidFill>
                <a:latin typeface="Calibri"/>
              </a:rPr>
              <a:t>modules 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79620" y="2468880"/>
            <a:ext cx="1834835" cy="24688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25340" y="2880360"/>
            <a:ext cx="1743395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22C55E"/>
                </a:solidFill>
                <a:latin typeface="Calibri"/>
              </a:rPr>
              <a:t>100%</a:t>
            </a:r>
          </a:p>
          <a:p>
            <a:pPr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>
                <a:solidFill>
                  <a:srgbClr val="CBD5E1"/>
                </a:solidFill>
                <a:latin typeface="Calibri"/>
              </a:rPr>
              <a:t>temps réel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SOUS LE CAPOT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Une architecture microservices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2384983" cy="169164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2350008"/>
            <a:ext cx="182880" cy="18288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743200"/>
            <a:ext cx="1836343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Calibri"/>
              </a:rPr>
              <a:t>Frontend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Calibri"/>
              </a:rPr>
              <a:t>React 19 · Vite · Tailwind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7983" y="2057400"/>
            <a:ext cx="2384983" cy="169164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802303" y="2350008"/>
            <a:ext cx="182880" cy="18288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20591" y="2743200"/>
            <a:ext cx="1836343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Calibri"/>
              </a:rPr>
              <a:t>API métier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Calibri"/>
              </a:rPr>
              <a:t>Laravel 12 · Sanctum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057400"/>
            <a:ext cx="2384983" cy="169164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53047" y="2350008"/>
            <a:ext cx="182880" cy="18288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1335" y="2743200"/>
            <a:ext cx="1836343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Calibri"/>
              </a:rPr>
              <a:t>Temps réel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Calibri"/>
              </a:rPr>
              <a:t>Node 20 · Socket.io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29471" y="2057400"/>
            <a:ext cx="2384983" cy="169164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03791" y="2350008"/>
            <a:ext cx="182880" cy="18288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2079" y="2743200"/>
            <a:ext cx="1836343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Calibri"/>
              </a:rPr>
              <a:t>Service IA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Calibri"/>
              </a:rPr>
              <a:t>Python · FastAPI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160520"/>
            <a:ext cx="2384983" cy="146304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480559"/>
            <a:ext cx="183634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2C55E"/>
                </a:solidFill>
                <a:latin typeface="Calibri"/>
              </a:rPr>
              <a:t>MySQL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données métier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7983" y="4160520"/>
            <a:ext cx="2384983" cy="146304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20591" y="4480559"/>
            <a:ext cx="183634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2C55E"/>
                </a:solidFill>
                <a:latin typeface="Calibri"/>
              </a:rPr>
              <a:t>MongoDB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temps réel &amp; notifs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4160520"/>
            <a:ext cx="2384983" cy="146304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71335" y="4480559"/>
            <a:ext cx="183634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2C55E"/>
                </a:solidFill>
                <a:latin typeface="Calibri"/>
              </a:rPr>
              <a:t>Redis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cache &amp; pub/sub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29471" y="4160520"/>
            <a:ext cx="2384983" cy="146304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2079" y="4480559"/>
            <a:ext cx="183634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2C55E"/>
                </a:solidFill>
                <a:latin typeface="Calibri"/>
              </a:rPr>
              <a:t>Caddy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HTTPS auto (TLS)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94360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Calibri"/>
              </a:rPr>
              <a:t>Orchestrés via Docker Compose — pensés pour un VPS 4 Go.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CE QU'ON A DÛ RÉSOUDRE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Calibri"/>
              </a:rPr>
              <a:t>Défis techniques relevés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240938" cy="3200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34440" y="2514600"/>
            <a:ext cx="658368" cy="65836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474720"/>
            <a:ext cx="232653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Temps réel fluide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Synchroniser whiteboard et éditeur de code à très basse latence, WebSocket + React.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75378" y="2057400"/>
            <a:ext cx="3240938" cy="3200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2578" y="2514600"/>
            <a:ext cx="658368" cy="65836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2578" y="3474720"/>
            <a:ext cx="232653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Microservices + IA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Orchestrer la logique Laravel avec un service Python dédié au traitement IA lourd.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73516" y="2057400"/>
            <a:ext cx="3240938" cy="3200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30716" y="2514600"/>
            <a:ext cx="658368" cy="658368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0716" y="3474720"/>
            <a:ext cx="232653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Multi-modèles LLM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Router dynamiquement vers le bon modèle (Groq, OpenRouter) selon chaque fonctionnalité.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TESTEZ MAINTENANT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Calibri"/>
              </a:rPr>
              <a:t>Trois parcours, une démo en ligne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3240938" cy="283464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377440"/>
            <a:ext cx="241797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Admin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Gestion de l'établissement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1250" b="1">
                <a:solidFill>
                  <a:srgbClr val="94A3B8"/>
                </a:solidFill>
                <a:latin typeface="Calibri"/>
              </a:rPr>
              <a:t>Identifiant  </a:t>
            </a:r>
            <a:r>
              <a:rPr sz="1250" b="1">
                <a:solidFill>
                  <a:srgbClr val="0F172A"/>
                </a:solidFill>
                <a:latin typeface="Calibri"/>
              </a:rPr>
              <a:t>admin@academix.com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94A3B8"/>
                </a:solidFill>
                <a:latin typeface="Calibri"/>
              </a:rPr>
              <a:t>Mot de passe  </a:t>
            </a:r>
            <a:r>
              <a:rPr sz="1250" b="1">
                <a:solidFill>
                  <a:srgbClr val="0F172A"/>
                </a:solidFill>
                <a:latin typeface="Calibri"/>
              </a:rPr>
              <a:t>admin2026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75378" y="2011680"/>
            <a:ext cx="3240938" cy="283464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86858" y="2377440"/>
            <a:ext cx="241797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Chef de dept.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Import &amp; suivi d'une filière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1250" b="1">
                <a:solidFill>
                  <a:srgbClr val="94A3B8"/>
                </a:solidFill>
                <a:latin typeface="Calibri"/>
              </a:rPr>
              <a:t>Identifiant  </a:t>
            </a:r>
            <a:r>
              <a:rPr sz="1250" b="1">
                <a:solidFill>
                  <a:srgbClr val="0F172A"/>
                </a:solidFill>
                <a:latin typeface="Calibri"/>
              </a:rPr>
              <a:t>mourchid@academix.com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94A3B8"/>
                </a:solidFill>
                <a:latin typeface="Calibri"/>
              </a:rPr>
              <a:t>Mot de passe  </a:t>
            </a:r>
            <a:r>
              <a:rPr sz="1250" b="1">
                <a:solidFill>
                  <a:srgbClr val="0F172A"/>
                </a:solidFill>
                <a:latin typeface="Calibri"/>
              </a:rPr>
              <a:t>mourchid2026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73516" y="2011680"/>
            <a:ext cx="3240938" cy="283464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84996" y="2377440"/>
            <a:ext cx="241797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Étudiant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Notes, IA &amp; sessions d'étude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1250" b="1">
                <a:solidFill>
                  <a:srgbClr val="94A3B8"/>
                </a:solidFill>
                <a:latin typeface="Calibri"/>
              </a:rPr>
              <a:t>Identifiant  </a:t>
            </a:r>
            <a:r>
              <a:rPr sz="1250" b="1">
                <a:solidFill>
                  <a:srgbClr val="0F172A"/>
                </a:solidFill>
                <a:latin typeface="Calibri"/>
              </a:rPr>
              <a:t>ETU002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94A3B8"/>
                </a:solidFill>
                <a:latin typeface="Calibri"/>
              </a:rPr>
              <a:t>Mot de passe  </a:t>
            </a:r>
            <a:r>
              <a:rPr sz="1250" b="1">
                <a:solidFill>
                  <a:srgbClr val="0F172A"/>
                </a:solidFill>
                <a:latin typeface="Calibri"/>
              </a:rPr>
              <a:t>ETU002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166360"/>
            <a:ext cx="10637215" cy="868680"/>
          </a:xfrm>
          <a:prstGeom prst="roundRect">
            <a:avLst>
              <a:gd name="adj" fmla="val 16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5166360"/>
            <a:ext cx="972281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CFCE7"/>
                </a:solidFill>
                <a:latin typeface="Calibri"/>
              </a:rPr>
              <a:t>En ligne :  </a:t>
            </a:r>
            <a:r>
              <a:rPr sz="1600" b="1">
                <a:solidFill>
                  <a:srgbClr val="FFFFFF"/>
                </a:solidFill>
                <a:latin typeface="Calibri"/>
              </a:rPr>
              <a:t>team-d-excellence-hackbyifri-2026.vercel.app/login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C55E"/>
                </a:solidFill>
                <a:latin typeface="Calibri"/>
              </a:rPr>
              <a:t>QUI SOMMES-NOUS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F172A"/>
                </a:solidFill>
                <a:latin typeface="Calibri"/>
              </a:rPr>
              <a:t>Team D'excellence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03120"/>
            <a:ext cx="3240938" cy="310896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94789" y="2560320"/>
            <a:ext cx="1005840" cy="10058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HB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840479"/>
            <a:ext cx="269229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Hanna Biaou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>
                <a:solidFill>
                  <a:srgbClr val="16A34A"/>
                </a:solidFill>
                <a:latin typeface="Calibri"/>
              </a:rPr>
              <a:t>Frontend &amp; Design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React · UI/UX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75378" y="2103120"/>
            <a:ext cx="3240938" cy="310896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592927" y="2560320"/>
            <a:ext cx="1005840" cy="10058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MF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9698" y="3840479"/>
            <a:ext cx="269229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Mourchid Folarin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>
                <a:solidFill>
                  <a:srgbClr val="16A34A"/>
                </a:solidFill>
                <a:latin typeface="Calibri"/>
              </a:rPr>
              <a:t>Backend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Laravel · MySQL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73516" y="2103120"/>
            <a:ext cx="3240938" cy="310896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91066" y="2560320"/>
            <a:ext cx="1005840" cy="10058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7836" y="3840479"/>
            <a:ext cx="269229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Calibri"/>
              </a:rPr>
              <a:t>Octave Bahoun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>
                <a:solidFill>
                  <a:srgbClr val="16A34A"/>
                </a:solidFill>
                <a:latin typeface="Calibri"/>
              </a:rPr>
              <a:t>Fullstack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Calibri"/>
              </a:rPr>
              <a:t>Node.js · Python 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Calibri"/>
              </a:rPr>
              <a:t>Merci.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361188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Academi</a:t>
            </a:r>
            <a:r>
              <a:rPr sz="4000" b="1">
                <a:solidFill>
                  <a:srgbClr val="22C55E"/>
                </a:solidFill>
                <a:latin typeface="Calibri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34340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BD5E1"/>
                </a:solidFill>
                <a:latin typeface="Calibri"/>
              </a:rPr>
              <a:t>L'assistant académique indispensable de chaque étudiant.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4A3B8"/>
                </a:solidFill>
                <a:latin typeface="Calibri"/>
              </a:rPr>
              <a:t>HackByIFRI 2026   ·   Team D'excellence   ·   </a:t>
            </a:r>
            <a:r>
              <a:rPr sz="1400" b="1">
                <a:solidFill>
                  <a:srgbClr val="22C55E"/>
                </a:solidFill>
                <a:latin typeface="Calibri"/>
              </a:rPr>
              <a:t>team-d-excellence-hackbyifri-2026.vercel.app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